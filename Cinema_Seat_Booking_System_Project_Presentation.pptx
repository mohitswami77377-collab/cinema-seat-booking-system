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2035636D-B120-32CD-64CB-898A087254F4}">
          <p14:sldIdLst>
            <p14:sldId id="256"/>
          </p14:sldIdLst>
        </p14:section>
        <p14:section name="Overview" id="{128032EC-9158-F016-9B2B-B314EF216113}">
          <p14:sldIdLst>
            <p14:sldId id="257"/>
            <p14:sldId id="258"/>
          </p14:sldIdLst>
        </p14:section>
        <p14:section name="Java Course Outcomes" id="{E3B9A534-D32D-566B-39A8-646F5B1646DD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Wrap-up" id="{152E7E27-6B89-5EED-F84C-12B34428F939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164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4A6"/>
                </a:solidFill>
              </a:rPr>
              <a:t>Cinema Seat Booking System  |  PSPJ  |  KL University</a:t>
            </a:r>
            <a:endParaRPr lang="en-US" sz="8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20040"/>
            <a:ext cx="2926080" cy="109728"/>
          </a:xfrm>
          <a:prstGeom prst="rect">
            <a:avLst/>
          </a:prstGeom>
          <a:solidFill>
            <a:srgbClr val="F6F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A94A6"/>
                </a:solidFill>
              </a:rPr>
              <a:t>SCREEN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22960" y="73152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73152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73152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73152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73152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9" name="Shape 7"/>
          <p:cNvSpPr/>
          <p:nvPr/>
        </p:nvSpPr>
        <p:spPr>
          <a:xfrm>
            <a:off x="2651760" y="73152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520" y="73152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73152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987552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6C4AB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987552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6C4AB6"/>
          </a:solidFill>
          <a:ln/>
        </p:spPr>
      </p:sp>
      <p:sp>
        <p:nvSpPr>
          <p:cNvPr id="14" name="Shape 12"/>
          <p:cNvSpPr/>
          <p:nvPr/>
        </p:nvSpPr>
        <p:spPr>
          <a:xfrm>
            <a:off x="1554480" y="987552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6C4AB6"/>
          </a:solidFill>
          <a:ln/>
        </p:spPr>
      </p:sp>
      <p:sp>
        <p:nvSpPr>
          <p:cNvPr id="15" name="Shape 13"/>
          <p:cNvSpPr/>
          <p:nvPr/>
        </p:nvSpPr>
        <p:spPr>
          <a:xfrm>
            <a:off x="1920240" y="987552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6C4AB6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0" y="987552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6C4AB6"/>
          </a:solidFill>
          <a:ln/>
        </p:spPr>
      </p:sp>
      <p:sp>
        <p:nvSpPr>
          <p:cNvPr id="17" name="Shape 15"/>
          <p:cNvSpPr/>
          <p:nvPr/>
        </p:nvSpPr>
        <p:spPr>
          <a:xfrm>
            <a:off x="2651760" y="987552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6C4AB6"/>
          </a:solidFill>
          <a:ln/>
        </p:spPr>
      </p:sp>
      <p:sp>
        <p:nvSpPr>
          <p:cNvPr id="18" name="Shape 16"/>
          <p:cNvSpPr/>
          <p:nvPr/>
        </p:nvSpPr>
        <p:spPr>
          <a:xfrm>
            <a:off x="3017520" y="987552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6C4AB6"/>
          </a:solidFill>
          <a:ln/>
        </p:spPr>
      </p:sp>
      <p:sp>
        <p:nvSpPr>
          <p:cNvPr id="19" name="Shape 17"/>
          <p:cNvSpPr/>
          <p:nvPr/>
        </p:nvSpPr>
        <p:spPr>
          <a:xfrm>
            <a:off x="3383280" y="987552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6C4AB6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1243584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3A5A8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8720" y="1243584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3A5A8C"/>
          </a:solidFill>
          <a:ln/>
        </p:spPr>
      </p:sp>
      <p:sp>
        <p:nvSpPr>
          <p:cNvPr id="22" name="Shape 20"/>
          <p:cNvSpPr/>
          <p:nvPr/>
        </p:nvSpPr>
        <p:spPr>
          <a:xfrm>
            <a:off x="1554480" y="1243584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3A5A8C"/>
          </a:solidFill>
          <a:ln/>
        </p:spPr>
      </p:sp>
      <p:sp>
        <p:nvSpPr>
          <p:cNvPr id="23" name="Shape 21"/>
          <p:cNvSpPr/>
          <p:nvPr/>
        </p:nvSpPr>
        <p:spPr>
          <a:xfrm>
            <a:off x="1920240" y="1243584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3A5A8C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0" y="1243584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3A5A8C"/>
          </a:solidFill>
          <a:ln/>
        </p:spPr>
      </p:sp>
      <p:sp>
        <p:nvSpPr>
          <p:cNvPr id="25" name="Shape 23"/>
          <p:cNvSpPr/>
          <p:nvPr/>
        </p:nvSpPr>
        <p:spPr>
          <a:xfrm>
            <a:off x="2651760" y="1243584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3A5A8C"/>
          </a:solidFill>
          <a:ln/>
        </p:spPr>
      </p:sp>
      <p:sp>
        <p:nvSpPr>
          <p:cNvPr id="26" name="Shape 24"/>
          <p:cNvSpPr/>
          <p:nvPr/>
        </p:nvSpPr>
        <p:spPr>
          <a:xfrm>
            <a:off x="3017520" y="1243584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3A5A8C"/>
          </a:solidFill>
          <a:ln/>
        </p:spPr>
      </p:sp>
      <p:sp>
        <p:nvSpPr>
          <p:cNvPr id="27" name="Shape 25"/>
          <p:cNvSpPr/>
          <p:nvPr/>
        </p:nvSpPr>
        <p:spPr>
          <a:xfrm>
            <a:off x="3383280" y="1243584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3A5A8C"/>
          </a:solidFill>
          <a:ln/>
        </p:spPr>
      </p:sp>
      <p:sp>
        <p:nvSpPr>
          <p:cNvPr id="28" name="Shape 26"/>
          <p:cNvSpPr/>
          <p:nvPr/>
        </p:nvSpPr>
        <p:spPr>
          <a:xfrm>
            <a:off x="5852160" y="36576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D726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852160" y="365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ADMIT ONE</a:t>
            </a:r>
            <a:endParaRPr lang="en-US" sz="1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Seat A1  |  Screen 1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1600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 Seat Booking System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2331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D6CC"/>
                </a:solidFill>
              </a:rPr>
              <a:t>A Java-Based Cinema Ticket and Seat Reservation Application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2788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</a:rPr>
              <a:t>Problem Solving Using Programming in Java (PSPJ)  |  KL University / KLH  |  Team No: [add from reference PPT]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" y="3337560"/>
            <a:ext cx="2468880" cy="731520"/>
          </a:xfrm>
          <a:prstGeom prst="rect">
            <a:avLst/>
          </a:prstGeom>
          <a:solidFill>
            <a:srgbClr val="16294A"/>
          </a:solidFill>
          <a:ln w="12700">
            <a:solidFill>
              <a:srgbClr val="6C4AB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33375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A. Saketh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1E0"/>
                </a:solidFill>
              </a:rPr>
              <a:t>Roll No: 2620030597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74720" y="3337560"/>
            <a:ext cx="2468880" cy="731520"/>
          </a:xfrm>
          <a:prstGeom prst="rect">
            <a:avLst/>
          </a:prstGeom>
          <a:solidFill>
            <a:srgbClr val="16294A"/>
          </a:solidFill>
          <a:ln w="12700">
            <a:solidFill>
              <a:srgbClr val="6C4AB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74720" y="33375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P. Madhava NagaSai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1E0"/>
                </a:solidFill>
              </a:rPr>
              <a:t>Roll No: 2620030534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0" y="3337560"/>
            <a:ext cx="2468880" cy="731520"/>
          </a:xfrm>
          <a:prstGeom prst="rect">
            <a:avLst/>
          </a:prstGeom>
          <a:solidFill>
            <a:srgbClr val="16294A"/>
          </a:solidFill>
          <a:ln w="12700">
            <a:solidFill>
              <a:srgbClr val="6C4AB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26480" y="33375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Mohit Swami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1E0"/>
                </a:solidFill>
              </a:rPr>
              <a:t>Roll No: 2620030381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</a:rPr>
              <a:t>Presentation Date: 15-10-2026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02920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73152" cy="37490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9875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98B"/>
                </a:solidFill>
              </a:rPr>
              <a:t>What the system does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A Java application for managing cinema ticket bookings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Shows available movies and seats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Books seats and calculates ticket price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Prevents the same seat being booked twice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Keeps booking records for future reference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File handling / collections are mentioned only where the code uses them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00584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D726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60720" y="10058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TICKET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Seat B3  |  Rs. __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2194560"/>
            <a:ext cx="3017520" cy="22860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SCREEN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256032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56032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12" name="Shape 10"/>
          <p:cNvSpPr/>
          <p:nvPr/>
        </p:nvSpPr>
        <p:spPr>
          <a:xfrm>
            <a:off x="6766560" y="256032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B8BDC9"/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256032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0" y="256032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256032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0" y="292608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292608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B8BDC9"/>
          </a:solidFill>
          <a:ln/>
        </p:spPr>
      </p:sp>
      <p:sp>
        <p:nvSpPr>
          <p:cNvPr id="18" name="Shape 16"/>
          <p:cNvSpPr/>
          <p:nvPr/>
        </p:nvSpPr>
        <p:spPr>
          <a:xfrm>
            <a:off x="6766560" y="292608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3760" y="292608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20" name="Shape 18"/>
          <p:cNvSpPr/>
          <p:nvPr/>
        </p:nvSpPr>
        <p:spPr>
          <a:xfrm>
            <a:off x="7680960" y="292608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292608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22" name="Shape 20"/>
          <p:cNvSpPr/>
          <p:nvPr/>
        </p:nvSpPr>
        <p:spPr>
          <a:xfrm>
            <a:off x="5852160" y="329184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B8BDC9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329184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6560" y="329184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25" name="Shape 23"/>
          <p:cNvSpPr/>
          <p:nvPr/>
        </p:nvSpPr>
        <p:spPr>
          <a:xfrm>
            <a:off x="7223760" y="329184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26" name="Shape 24"/>
          <p:cNvSpPr/>
          <p:nvPr/>
        </p:nvSpPr>
        <p:spPr>
          <a:xfrm>
            <a:off x="7680960" y="329184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8160" y="329184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B8BDC9"/>
          </a:solidFill>
          <a:ln/>
        </p:spPr>
      </p:sp>
      <p:sp>
        <p:nvSpPr>
          <p:cNvPr id="28" name="Shape 26"/>
          <p:cNvSpPr/>
          <p:nvPr/>
        </p:nvSpPr>
        <p:spPr>
          <a:xfrm>
            <a:off x="5852160" y="365760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365760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30" name="Shape 28"/>
          <p:cNvSpPr/>
          <p:nvPr/>
        </p:nvSpPr>
        <p:spPr>
          <a:xfrm>
            <a:off x="6766560" y="365760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31" name="Shape 29"/>
          <p:cNvSpPr/>
          <p:nvPr/>
        </p:nvSpPr>
        <p:spPr>
          <a:xfrm>
            <a:off x="7223760" y="365760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32" name="Shape 30"/>
          <p:cNvSpPr/>
          <p:nvPr/>
        </p:nvSpPr>
        <p:spPr>
          <a:xfrm>
            <a:off x="7680960" y="365760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B8BDC9"/>
          </a:solidFill>
          <a:ln/>
        </p:spPr>
      </p:sp>
      <p:sp>
        <p:nvSpPr>
          <p:cNvPr id="33" name="Shape 31"/>
          <p:cNvSpPr/>
          <p:nvPr/>
        </p:nvSpPr>
        <p:spPr>
          <a:xfrm>
            <a:off x="8138160" y="365760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B998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760720" y="41148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577"/>
                </a:solidFill>
              </a:rPr>
              <a:t>Teal = available   Grey = booked (illustration)</a:t>
            </a:r>
            <a:endParaRPr lang="en-US" sz="9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Problem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73152" cy="27432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9875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263D"/>
                </a:solidFill>
              </a:rPr>
              <a:t>Existing Problems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3703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Manual ticket booking takes 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Customers may not know which seats are free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Duplicate reservations when records are poorly managed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Manual booking records are hard to maintain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14400"/>
            <a:ext cx="73152" cy="27432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9875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98B"/>
                </a:solidFill>
              </a:rPr>
              <a:t>Proposed Solution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325880"/>
            <a:ext cx="3703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Menu-driven Java application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Displays movie and seat information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Validates booking requests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Updates seat availability after booking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Stores/displays bookings (if in code)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9319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D726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Manual process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9319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60320" y="39319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D726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60320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Seat confusion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39319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54880" y="39319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B99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Java menu app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9319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49440" y="39319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B998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0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Validated booking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CO1: Java Foundations</a:t>
            </a:r>
            <a:endParaRPr lang="en-US" sz="2400" dirty="0"/>
          </a:p>
        </p:txBody>
      </p:sp>
      <p:sp>
        <p:nvSpPr>
          <p:cNvPr id="3" name="Draft tag"/>
          <p:cNvSpPr/>
          <p:nvPr/>
        </p:nvSpPr>
        <p:spPr>
          <a:xfrm>
            <a:off x="6035040" y="896112"/>
            <a:ext cx="2743200" cy="274320"/>
          </a:xfrm>
          <a:prstGeom prst="roundRect">
            <a:avLst>
              <a:gd name="adj" fmla="val 26667"/>
            </a:avLst>
          </a:prstGeom>
          <a:solidFill>
            <a:srgbClr val="F2B1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35040" y="896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Code below is an ILLUSTRATIVE EXAMPLE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3429000"/>
          </a:xfrm>
          <a:prstGeom prst="rect">
            <a:avLst/>
          </a:prstGeom>
          <a:solidFill>
            <a:srgbClr val="6C4A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307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AB6"/>
                </a:solidFill>
              </a:rPr>
              <a:t>Concepts to show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Variables and data types (int, double, String, boolean)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Operators and expressions (price = seats * rate)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Constants (final), where used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Scanner for keyboard input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System.out.println() for output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Basic program structure: class + main()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4206240" cy="2468880"/>
          </a:xfrm>
          <a:prstGeom prst="rect">
            <a:avLst/>
          </a:prstGeom>
          <a:solidFill>
            <a:srgbClr val="1629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132588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 sc = new Scanner(System.in);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seats = sc.nextInt();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price = seats * 150;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System.out.println("Total: " + price);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7307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7263D"/>
                </a:solidFill>
              </a:rPr>
              <a:t>EXAMPLE only: replace with the project's real code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</a:rPr>
              <a:t>Input → calculation → output is the core pattern of booking a ticket.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CO2: Control Flow</a:t>
            </a:r>
            <a:endParaRPr lang="en-US" sz="2400" dirty="0"/>
          </a:p>
        </p:txBody>
      </p:sp>
      <p:sp>
        <p:nvSpPr>
          <p:cNvPr id="3" name="Draft tag"/>
          <p:cNvSpPr/>
          <p:nvPr/>
        </p:nvSpPr>
        <p:spPr>
          <a:xfrm>
            <a:off x="6035040" y="896112"/>
            <a:ext cx="2743200" cy="274320"/>
          </a:xfrm>
          <a:prstGeom prst="roundRect">
            <a:avLst>
              <a:gd name="adj" fmla="val 26667"/>
            </a:avLst>
          </a:prstGeom>
          <a:solidFill>
            <a:srgbClr val="F2B1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35040" y="896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DRAFT: verify against source code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2918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21031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3075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98B"/>
                </a:solidFill>
              </a:rPr>
              <a:t>Used for decisions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if / if-else: validate booking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switch: menu options (if used)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Loops: repeat menu until exit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Boolean check: is seat available?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1188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1B99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3611880"/>
            <a:ext cx="1005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Start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6118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00200" y="361188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6C4A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600200" y="3611880"/>
            <a:ext cx="1005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Display Menu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587752" y="36118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834640" y="361188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1B998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834640" y="3611880"/>
            <a:ext cx="1005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Select Option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822192" y="36118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069080" y="361188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F2B1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069080" y="3611880"/>
            <a:ext cx="1005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Validate Input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056632" y="36118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0" y="361188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1B998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03520" y="3611880"/>
            <a:ext cx="1005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Perform Operation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36118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37960" y="361188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6C4AB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3611880"/>
            <a:ext cx="1005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Display Result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525512" y="36118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0" y="361188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1B998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0" y="3611880"/>
            <a:ext cx="1005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Menu or Exit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4343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7263D"/>
                </a:solidFill>
              </a:rPr>
              <a:t>Flowchart follows the template in the prompt; adjust to match the real code.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931920" y="1234440"/>
            <a:ext cx="4846320" cy="2103120"/>
          </a:xfrm>
          <a:prstGeom prst="rect">
            <a:avLst/>
          </a:prstGeom>
          <a:solidFill>
            <a:srgbClr val="1629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069080" y="132588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showMenu();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choice = sc.nextInt();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(seatIsFree(row, col)) { book(row, col);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{ System.out.println("Seat taken");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(choice != 0);</a:t>
            </a:r>
            <a:endParaRPr lang="en-US" sz="10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CO3: Methods and Arrays</a:t>
            </a:r>
            <a:endParaRPr lang="en-US" sz="2400" dirty="0"/>
          </a:p>
        </p:txBody>
      </p:sp>
      <p:sp>
        <p:nvSpPr>
          <p:cNvPr id="3" name="Draft tag"/>
          <p:cNvSpPr/>
          <p:nvPr/>
        </p:nvSpPr>
        <p:spPr>
          <a:xfrm>
            <a:off x="6035040" y="896112"/>
            <a:ext cx="2743200" cy="274320"/>
          </a:xfrm>
          <a:prstGeom prst="roundRect">
            <a:avLst>
              <a:gd name="adj" fmla="val 26667"/>
            </a:avLst>
          </a:prstGeom>
          <a:solidFill>
            <a:srgbClr val="F2B1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35040" y="896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Seat map is an ILLUSTRATION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34290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307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98B"/>
                </a:solidFill>
              </a:rPr>
              <a:t>What to explain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Methods: show movies, book seat, check availability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Parameters and return values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1D arrays: movie names / prices (if used)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2D array: rows × columns of seats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Nested loops to print seats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Overloading / recursion only if in the code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280160"/>
            <a:ext cx="3840480" cy="22860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SCREEN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5544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7"/>
                </a:solidFill>
              </a:rPr>
              <a:t>Col 1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5544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7"/>
                </a:solidFill>
              </a:rPr>
              <a:t>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5544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7"/>
                </a:solidFill>
              </a:rPr>
              <a:t>3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5544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7"/>
                </a:solidFill>
              </a:rPr>
              <a:t>4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15544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7"/>
                </a:solidFill>
              </a:rPr>
              <a:t>5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8288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</a:rPr>
              <a:t>Row 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0" y="18288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208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18288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5216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18288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D726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18288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0" y="18288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22860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</a:rPr>
              <a:t>Row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12080" y="22860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21208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52160" y="22860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D726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85216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22860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D7263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9224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X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32320" y="22860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3232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0" y="22860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0" y="27432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</a:rPr>
              <a:t>Row 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12080" y="27432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21208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52160" y="27432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85216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92240" y="27432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9224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132320" y="27432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13232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772400" y="27432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77240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0" y="32004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</a:rPr>
              <a:t>Row 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2080" y="32004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212080" y="3200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852160" y="32004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852160" y="3200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92240" y="32004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492240" y="3200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132320" y="32004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132320" y="3200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772400" y="320040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D7263D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772400" y="3200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X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754880" y="3749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</a:rPr>
              <a:t>O = available (teal)    X = booked (red)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54880" y="4023360"/>
            <a:ext cx="3840480" cy="640080"/>
          </a:xfrm>
          <a:prstGeom prst="rect">
            <a:avLst/>
          </a:prstGeom>
          <a:solidFill>
            <a:srgbClr val="16294A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489204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boolean[][] booked = new boolean[4][5];</a:t>
            </a:r>
            <a:endParaRPr lang="en-US" sz="100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CO4: OOP and Exceptions</a:t>
            </a:r>
            <a:endParaRPr lang="en-US" sz="2400" dirty="0"/>
          </a:p>
        </p:txBody>
      </p:sp>
      <p:sp>
        <p:nvSpPr>
          <p:cNvPr id="3" name="Draft tag"/>
          <p:cNvSpPr/>
          <p:nvPr/>
        </p:nvSpPr>
        <p:spPr>
          <a:xfrm>
            <a:off x="6035040" y="896112"/>
            <a:ext cx="2743200" cy="274320"/>
          </a:xfrm>
          <a:prstGeom prst="roundRect">
            <a:avLst>
              <a:gd name="adj" fmla="val 26667"/>
            </a:avLst>
          </a:prstGeom>
          <a:solidFill>
            <a:srgbClr val="F2B1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35040" y="896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DRAFT: verify against source code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Concept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to show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Classes &amp; objects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e.g. Movie / Booking class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B134"/>
                          </a:solidFill>
                        </a:rPr>
                        <a:t>Verify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Constructors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Initialise object fields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B134"/>
                          </a:solidFill>
                        </a:rPr>
                        <a:t>Verify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Encapsulation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private fields + getters/setters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B134"/>
                          </a:solidFill>
                        </a:rPr>
                        <a:t>Verify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Inheritance / interfaces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Only if present in code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B134"/>
                          </a:solidFill>
                        </a:rPr>
                        <a:t>Verify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try-catch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e.g. InputMismatchException on bad input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B134"/>
                          </a:solidFill>
                        </a:rPr>
                        <a:t>Verify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Validation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Reject invalid row/column/seat count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B134"/>
                          </a:solidFill>
                        </a:rPr>
                        <a:t>Verify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7263D"/>
                </a:solidFill>
              </a:rPr>
              <a:t>Mark each row Implemented / Not implemented after checking the source. Add a class diagram only if the code has multiple classes.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CO5: Strings and File I/O</a:t>
            </a:r>
            <a:endParaRPr lang="en-US" sz="2400" dirty="0"/>
          </a:p>
        </p:txBody>
      </p:sp>
      <p:sp>
        <p:nvSpPr>
          <p:cNvPr id="3" name="Draft tag"/>
          <p:cNvSpPr/>
          <p:nvPr/>
        </p:nvSpPr>
        <p:spPr>
          <a:xfrm>
            <a:off x="6035040" y="896112"/>
            <a:ext cx="2743200" cy="274320"/>
          </a:xfrm>
          <a:prstGeom prst="roundRect">
            <a:avLst>
              <a:gd name="adj" fmla="val 26667"/>
            </a:avLst>
          </a:prstGeom>
          <a:solidFill>
            <a:srgbClr val="F2B1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35040" y="896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DRAFT: verify against source code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3429000"/>
          </a:xfrm>
          <a:prstGeom prst="rect">
            <a:avLst/>
          </a:prstGeom>
          <a:solidFill>
            <a:srgbClr val="6C4A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3075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AB6"/>
                </a:solidFill>
              </a:rPr>
              <a:t>What to explain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3794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String for movie / customer names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equals() / equalsIgnoreCase() to compare or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File classes (FileWriter, BufferedReader, Scanner(File)) if used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Saving bookings to a file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</a:rPr>
              <a:t>Reloading saved records on restart (if supported)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234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Sample booking record (ILLUSTRATIVE)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023360" cy="548640"/>
          </a:xfrm>
          <a:prstGeom prst="rect">
            <a:avLst/>
          </a:prstGeom>
          <a:solidFill>
            <a:srgbClr val="1629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Movie: ____ | Seat: B3 | Price: ____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331720"/>
            <a:ext cx="4023360" cy="1463040"/>
          </a:xfrm>
          <a:prstGeom prst="rect">
            <a:avLst/>
          </a:prstGeom>
          <a:solidFill>
            <a:srgbClr val="1629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24231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FileWriter fw = new FileWriter("bookings.txt", true);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fw.write("B3,Movie,150\n");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fw.close();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8221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7263D"/>
                </a:solidFill>
              </a:rPr>
              <a:t>EXAMPLE only: replace with real project code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CO6: Collections and Streams</a:t>
            </a:r>
            <a:endParaRPr lang="en-US" sz="2400" dirty="0"/>
          </a:p>
        </p:txBody>
      </p:sp>
      <p:sp>
        <p:nvSpPr>
          <p:cNvPr id="3" name="Draft tag"/>
          <p:cNvSpPr/>
          <p:nvPr/>
        </p:nvSpPr>
        <p:spPr>
          <a:xfrm>
            <a:off x="6035040" y="896112"/>
            <a:ext cx="2743200" cy="274320"/>
          </a:xfrm>
          <a:prstGeom prst="roundRect">
            <a:avLst>
              <a:gd name="adj" fmla="val 26667"/>
            </a:avLst>
          </a:prstGeom>
          <a:solidFill>
            <a:srgbClr val="F2B1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35040" y="896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DRAFT: verify against source code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Concept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Possible use in this project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ArrayList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Store movies / bookings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2B134"/>
                          </a:solidFill>
                        </a:rPr>
                        <a:t>Verify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HashMap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Map movie ID → details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2B134"/>
                          </a:solidFill>
                        </a:rPr>
                        <a:t>Verify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HashSet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Track unique booked seats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2B134"/>
                          </a:solidFill>
                        </a:rPr>
                        <a:t>Verify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Lambda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Short inline functions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2B134"/>
                          </a:solidFill>
                        </a:rPr>
                        <a:t>Verify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Stream API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Filter, sort, summarise bookings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2B134"/>
                          </a:solidFill>
                        </a:rPr>
                        <a:t>Verify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7263D"/>
                </a:solidFill>
              </a:rPr>
              <a:t>Keep only what the code really uses. Anything unused goes on the slide as a "possible extension", not an implemented feature.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30175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78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98B"/>
                </a:solidFill>
              </a:rPr>
              <a:t>Implemented (confirm with code)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3703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Menu-driven Java booking program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Seat availability and duplicate-booking check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Ticket price calculation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Booking records (if file/collections used)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Demonstrates CO1–CO6 concepts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05840"/>
            <a:ext cx="73152" cy="3017520"/>
          </a:xfrm>
          <a:prstGeom prst="rect">
            <a:avLst/>
          </a:prstGeom>
          <a:solidFill>
            <a:srgbClr val="6C4A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078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AB6"/>
                </a:solidFill>
              </a:rPr>
              <a:t>Future enhancements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17320"/>
            <a:ext cx="3703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Graphical interface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Database integration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Multiple showtimes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User login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Booking cancellation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D1E0"/>
                </a:solidFill>
              </a:rPr>
              <a:t>Java can automate basic cinema booking and keep seats and records organised.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365760" y="96012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6"/>
                </a:solidFill>
              </a:rPr>
              <a:t>[ Screenshot placeholder ]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2606743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Main menu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960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3200400" y="96012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6"/>
                </a:solidFill>
              </a:rPr>
              <a:t>[ Screenshot placeholder ]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598303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Movie listing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035040" y="96012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6"/>
                </a:solidFill>
              </a:rPr>
              <a:t>[ Screenshot placeholder ]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56665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Seat availability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192663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65760" y="288036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6"/>
                </a:solidFill>
              </a:rPr>
              <a:t>[ Screenshot placeholder 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563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Successful booking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31546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200400" y="2953512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6"/>
                </a:solidFill>
              </a:rPr>
              <a:t>[ Screenshot placeholder ]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4564263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Invalid / unavailable seat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31546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035040" y="3358073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6"/>
                </a:solidFill>
              </a:rPr>
              <a:t>[ Screenshot placeholder 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453261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Booking history / saved records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CC9C1F2-C8E4-0EAE-7B12-EB5108384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71" y="845819"/>
            <a:ext cx="2890249" cy="169093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B2A9270-27DD-7B89-B4DC-6D267BC8C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677475"/>
            <a:ext cx="2834640" cy="186796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206DB0B-2C2B-6945-286C-DF61524CA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7668" y="646158"/>
            <a:ext cx="3144129" cy="194335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71C82BA-697E-C5E0-18FC-31B27A2441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81" y="3029477"/>
            <a:ext cx="2961739" cy="159949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5E73CB4-06D2-5223-509C-EA516F4EC2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0886" y="3006355"/>
            <a:ext cx="2961739" cy="156564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08708ABA-3004-A6CF-2B7B-714E283D9A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5717" y="3029477"/>
            <a:ext cx="2785403" cy="15656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Photo and Repository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560320"/>
          </a:xfrm>
          <a:prstGeom prst="rect">
            <a:avLst/>
          </a:prstGeom>
          <a:solidFill>
            <a:srgbClr val="16294A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4A6"/>
                </a:solidFill>
              </a:rPr>
              <a:t>[ Geo-tagged team photo placeholder 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0058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FD6CC"/>
                </a:solidFill>
              </a:rPr>
              <a:t>GitHub repository</a:t>
            </a:r>
          </a:p>
          <a:p>
            <a:r>
              <a:rPr lang="en-US" sz="13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https://github.com/mohitswami77377-collab/Cinema-Seat-Booking-System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9D1E0"/>
                </a:solidFill>
              </a:rPr>
              <a:t>Java source code and documentation for the Cinema Seat Booking System.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2860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A. Saketh  |  2620030597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P. Madhava NagaSai  |  2620030534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Mohit Swami  |  2620030381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7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0BF929-F925-35FA-7423-530E8E14A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46" y="985617"/>
            <a:ext cx="3893234" cy="29199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inema">
  <a:themeElements>
    <a:clrScheme name="Cinema">
      <a:dk1>
        <a:srgbClr val="0B1F3A"/>
      </a:dk1>
      <a:lt1>
        <a:srgbClr val="FFFFFF"/>
      </a:lt1>
      <a:dk2>
        <a:srgbClr val="16294A"/>
      </a:dk2>
      <a:lt2>
        <a:srgbClr val="F6F3EE"/>
      </a:lt2>
      <a:accent1>
        <a:srgbClr val="D7263D"/>
      </a:accent1>
      <a:accent2>
        <a:srgbClr val="1B998B"/>
      </a:accent2>
      <a:accent3>
        <a:srgbClr val="6C4AB6"/>
      </a:accent3>
      <a:accent4>
        <a:srgbClr val="F2B134"/>
      </a:accent4>
      <a:accent5>
        <a:srgbClr val="3A5A8C"/>
      </a:accent5>
      <a:accent6>
        <a:srgbClr val="8A94A6"/>
      </a:accent6>
      <a:hlink>
        <a:srgbClr val="1B998B"/>
      </a:hlink>
      <a:folHlink>
        <a:srgbClr val="6C4AB6"/>
      </a:folHlink>
    </a:clrScheme>
    <a:fontScheme name="Cinema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1022</Words>
  <Application>Microsoft Office PowerPoint</Application>
  <PresentationFormat>On-screen Show (16:9)</PresentationFormat>
  <Paragraphs>243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Cinema</vt:lpstr>
      <vt:lpstr>PowerPoint Presentation</vt:lpstr>
      <vt:lpstr>Abstract</vt:lpstr>
      <vt:lpstr>Understanding the Problem Statement</vt:lpstr>
      <vt:lpstr>CO1: Java Foundations</vt:lpstr>
      <vt:lpstr>CO2: Control Flow</vt:lpstr>
      <vt:lpstr>CO3: Methods and Arrays</vt:lpstr>
      <vt:lpstr>CO4: OOP and Exceptions</vt:lpstr>
      <vt:lpstr>CO5: Strings and File I/O</vt:lpstr>
      <vt:lpstr>CO6: Collections and Streams</vt:lpstr>
      <vt:lpstr>PowerPoint Presentation</vt:lpstr>
      <vt:lpstr>Screenshots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 Seat Booking System</dc:title>
  <dc:subject>PptxGenJS Presentation</dc:subject>
  <dc:creator>A. Saketh, P. Madhava NagaSai, Mohit Swami</dc:creator>
  <cp:lastModifiedBy>Avula Saketh</cp:lastModifiedBy>
  <cp:revision>2</cp:revision>
  <dcterms:created xsi:type="dcterms:W3CDTF">2026-10-15T16:09:38Z</dcterms:created>
  <dcterms:modified xsi:type="dcterms:W3CDTF">2026-10-15T19:29:16Z</dcterms:modified>
</cp:coreProperties>
</file>